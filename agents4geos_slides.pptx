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FBCD4"/>
                </a:solidFill>
              </a:rPr>
              <a:t>Agents4GEOS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</a:rPr>
              <a:t>A multi-agent MCP server for natural-language GEOS simulation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48840"/>
            <a:ext cx="1161288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33172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FBCD4"/>
                </a:solidFill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089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MCP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33172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23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089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AI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331720"/>
            <a:ext cx="26517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423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4CAF50"/>
                </a:solidFill>
              </a:rP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089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GEOS Examples
(knowledge base)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Converts plain-English simulation descriptions into validated GEOS XML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Handles single-phase / multiphase / CO₂-brine / thermal coupling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Covers the full workflow: mesh → fluids → XML assembly → validation → post-processing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Built on FastMCP + Claude Code slash commands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069080"/>
            <a:ext cx="420624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BCD4"/>
                </a:solidFill>
              </a:rP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5262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F5A623"/>
                </a:solidFill>
              </a:rPr>
              <a:t>  FastMCP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  geos-tui  (schema / XML)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  pyResToolbox  (fluid PVT)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CCCCC"/>
                </a:solidFill>
              </a:rPr>
              <a:t>  PyVista  (mesh / VTK)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0FBCD4"/>
                </a:solidFill>
              </a:rPr>
              <a:t>  Claude Haiku / Sonnet / Opus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BCD4"/>
                </a:solidFill>
              </a:rPr>
              <a:t>Tool Architecture  —  52 MCP Tools in 6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38404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77240"/>
            <a:ext cx="3840480" cy="6400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868680"/>
            <a:ext cx="548640" cy="457200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868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914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BCD4"/>
                </a:solidFill>
              </a:rPr>
              <a:t>Schema &amp; Introspection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17319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list_elements · get_element_info</a:t>
            </a:r>
          </a:p>
          <a:p>
            <a:r>
              <a:rPr sz="1200">
                <a:solidFill>
                  <a:srgbClr val="CCCCCC"/>
                </a:solidFill>
              </a:rPr>
              <a:t>get_children · get_required_attrs</a:t>
            </a:r>
          </a:p>
          <a:p>
            <a:r>
              <a:rPr sz="1200">
                <a:solidFill>
                  <a:srgbClr val="CCCCCC"/>
                </a:solidFill>
              </a:rPr>
              <a:t>validate_path · find_cross_refs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8" y="777240"/>
            <a:ext cx="38404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3088" y="777240"/>
            <a:ext cx="38404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33488" y="868680"/>
            <a:ext cx="54864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868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914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Fluid &amp; Constitutive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417319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compute_pvt · recommend_fluid_model</a:t>
            </a:r>
          </a:p>
          <a:p>
            <a:r>
              <a:rPr sz="1200">
                <a:solidFill>
                  <a:srgbClr val="CCCCCC"/>
                </a:solidFill>
              </a:rPr>
              <a:t>get_viscosity · get_density</a:t>
            </a:r>
          </a:p>
          <a:p>
            <a:r>
              <a:rPr sz="1200">
                <a:solidFill>
                  <a:srgbClr val="CCCCCC"/>
                </a:solidFill>
              </a:rPr>
              <a:t>build_co2_brine · build_dead_oil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777240"/>
            <a:ext cx="38404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777240"/>
            <a:ext cx="384048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83696" y="868680"/>
            <a:ext cx="54864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83696" y="868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914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Mesh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1417319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create_box_mesh · create_vtk_mesh</a:t>
            </a:r>
          </a:p>
          <a:p>
            <a:r>
              <a:rPr sz="1200">
                <a:solidFill>
                  <a:srgbClr val="CCCCCC"/>
                </a:solidFill>
              </a:rPr>
              <a:t>visualise_mesh · mesh_statistics</a:t>
            </a:r>
          </a:p>
          <a:p>
            <a:r>
              <a:rPr sz="1200">
                <a:solidFill>
                  <a:srgbClr val="CCCCCC"/>
                </a:solidFill>
              </a:rPr>
              <a:t>convert_mesh · inspect_gmsh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3520440"/>
            <a:ext cx="38404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520440"/>
            <a:ext cx="3840480" cy="6400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611880"/>
            <a:ext cx="548640" cy="4572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657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B47BC"/>
                </a:solidFill>
              </a:rPr>
              <a:t>XML Assembly &amp;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160520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create_document · add_element</a:t>
            </a:r>
          </a:p>
          <a:p>
            <a:r>
              <a:rPr sz="1200">
                <a:solidFill>
                  <a:srgbClr val="CCCCCC"/>
                </a:solidFill>
              </a:rPr>
              <a:t>set_attribute · validate_xml</a:t>
            </a:r>
          </a:p>
          <a:p>
            <a:r>
              <a:rPr sz="1200">
                <a:solidFill>
                  <a:srgbClr val="CCCCCC"/>
                </a:solidFill>
              </a:rPr>
              <a:t>cross_ref_check · save_document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33088" y="3520440"/>
            <a:ext cx="38404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33088" y="3520440"/>
            <a:ext cx="3840480" cy="6400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33488" y="3611880"/>
            <a:ext cx="548640" cy="4572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657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5350"/>
                </a:solidFill>
              </a:rPr>
              <a:t>Post-Processing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160520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list_vtk_fields · plot_field</a:t>
            </a:r>
          </a:p>
          <a:p>
            <a:r>
              <a:rPr sz="1200">
                <a:solidFill>
                  <a:srgbClr val="CCCCCC"/>
                </a:solidFill>
              </a:rPr>
              <a:t>time_series · compute_gradient</a:t>
            </a:r>
          </a:p>
          <a:p>
            <a:r>
              <a:rPr sz="1200">
                <a:solidFill>
                  <a:srgbClr val="CCCCCC"/>
                </a:solidFill>
              </a:rPr>
              <a:t>extract_slice · summarise_output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296" y="3520440"/>
            <a:ext cx="384048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3520440"/>
            <a:ext cx="3840480" cy="64008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283696" y="3611880"/>
            <a:ext cx="548640" cy="4572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83696" y="3611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3657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4D"/>
                </a:solidFill>
              </a:rPr>
              <a:t>Pre-Processing / Utilities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160520"/>
            <a:ext cx="35661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convert_units · expand_params</a:t>
            </a:r>
          </a:p>
          <a:p>
            <a:r>
              <a:rPr sz="1200">
                <a:solidFill>
                  <a:srgbClr val="CCCCCC"/>
                </a:solidFill>
              </a:rPr>
              <a:t>resolve_includes · health_check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BCD4"/>
                </a:solidFill>
              </a:rPr>
              <a:t>Agent Taxonomy  &amp;  Orchestration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6492240" cy="5760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11 Specialised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61872"/>
            <a:ext cx="6400800" cy="2926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2801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80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280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54480"/>
            <a:ext cx="640080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600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AF5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6002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Opus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002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Main orchestrator  (all tools)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975104"/>
            <a:ext cx="6400800" cy="402336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020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0208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02082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Sonnet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02082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XML modification &amp; editing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395728"/>
            <a:ext cx="640080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41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4414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4414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Sonnet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4414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Schema + physics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816352"/>
            <a:ext cx="6400800" cy="402336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862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/geos:fluids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28620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286207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Sonnet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286207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Fluid PVT &amp; constitutive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236976"/>
            <a:ext cx="640080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282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/geos:mesh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28269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2826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Sonnet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328269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Mesh creation &amp; visualisation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657600"/>
            <a:ext cx="6400800" cy="402336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/geos:relperm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3703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37033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Sonnet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3703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Rel-perm / cap-pressure curves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078224"/>
            <a:ext cx="640080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1239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/geos:postprocess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1239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1239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Sonnet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412394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VTK output analysis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498848"/>
            <a:ext cx="6400800" cy="402336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544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/geos:schema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45445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A5F5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54456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</a:rPr>
              <a:t>Haiku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60" y="4544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Schema introspection (read-only)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919472"/>
            <a:ext cx="640080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965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/geos:inspect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49651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A5F5"/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96519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</a:rPr>
              <a:t>Haiku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1960" y="49651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XML inspection (read-only)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5340096"/>
            <a:ext cx="6400800" cy="402336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5385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/geos:run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06040" y="538581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AF50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538581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AF50"/>
                </a:solidFill>
              </a:rPr>
              <a:t>Opus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538581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Run simulation &amp; diagnose errors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5760720"/>
            <a:ext cx="6400800" cy="40233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BCD4"/>
                </a:solidFill>
              </a:rPr>
              <a:t>/geos:curate-errors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06040" y="5806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A5F5"/>
                </a:solidFill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08960" y="580644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</a:rPr>
              <a:t>Haiku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1960" y="58064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Log runtime errors for learning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777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Orchestration Patterns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1261872"/>
            <a:ext cx="50749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03720" y="1261872"/>
            <a:ext cx="64008" cy="1371600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59168" y="13350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BCD4"/>
                </a:solidFill>
              </a:rPr>
              <a:t>Pipeline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9168" y="1719072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/geos:fluids → /geos → /geos:validate</a:t>
            </a:r>
          </a:p>
          <a:p>
            <a:r>
              <a:rPr sz="1300">
                <a:solidFill>
                  <a:srgbClr val="CCCCCC"/>
                </a:solidFill>
              </a:rPr>
              <a:t>Output flows sequentially through agents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03720" y="2743200"/>
            <a:ext cx="50749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03720" y="2743200"/>
            <a:ext cx="64008" cy="137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59168" y="28163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Fan-out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59168" y="32004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/geos dispatches mesh + fluids in parallel</a:t>
            </a:r>
          </a:p>
          <a:p>
            <a:r>
              <a:rPr sz="1300">
                <a:solidFill>
                  <a:srgbClr val="CCCCCC"/>
                </a:solidFill>
              </a:rPr>
              <a:t>Results merged before XML assembly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03720" y="4224528"/>
            <a:ext cx="50749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03720" y="4224528"/>
            <a:ext cx="64008" cy="13716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59168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B47BC"/>
                </a:solidFill>
              </a:rPr>
              <a:t>Feedback Loop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59168" y="468172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Produce → Review → Re-invoke (bounded)</a:t>
            </a:r>
          </a:p>
          <a:p>
            <a:r>
              <a:rPr sz="1300">
                <a:solidFill>
                  <a:srgbClr val="CCCCCC"/>
                </a:solidFill>
              </a:rPr>
              <a:t>e.g. XML → validate → fix → re-validate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03720" y="5797296"/>
            <a:ext cx="50749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4088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Cognitive Tiers  →  Model Routing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67728" y="6208776"/>
            <a:ext cx="1371600" cy="2560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76872" y="6227064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Tier 1  Haiku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622706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Lookup, extraction, formatting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67728" y="6510528"/>
            <a:ext cx="137160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76872" y="6528816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Tier 2  Sonnet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652881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Synthesis, assembly, validation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67728" y="6812280"/>
            <a:ext cx="1371600" cy="2560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76872" y="683056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Tier 3  Opus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68305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Planning, multi-step reasoning, dialogue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67728" y="7223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Key rule: all agent-to-agent handoffs pass structured data, never free-form prose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BCD4"/>
                </a:solidFill>
              </a:rPr>
              <a:t>End-to-End Workflow  &amp;  Knowledge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1626108" cy="1234440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896112"/>
            <a:ext cx="15346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Natural
Language
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1284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6188" y="822960"/>
            <a:ext cx="1626108" cy="1234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1908" y="896112"/>
            <a:ext cx="15346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Mesh
/geos:mesh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1440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6344" y="822960"/>
            <a:ext cx="162610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064" y="896112"/>
            <a:ext cx="15346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Fluids
/geos:fluids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1596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6500" y="822960"/>
            <a:ext cx="1626108" cy="12344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2220" y="896112"/>
            <a:ext cx="15346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XML Assembly
/geos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1752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6655" y="822960"/>
            <a:ext cx="1626108" cy="1234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2376" y="896112"/>
            <a:ext cx="15346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Validation
/geos:validate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1908" y="12070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06812" y="822960"/>
            <a:ext cx="1626108" cy="123444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52532" y="896112"/>
            <a:ext cx="15346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Post-Process
/geos:post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31720"/>
            <a:ext cx="1161288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23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CCCC"/>
                </a:solidFill>
              </a:rPr>
              <a:t>Output: validated GEOS XML  (200-500 lines with correct cross-references)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26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Knowledge Base  —  Domain Expertise Encoded in 5 Modules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429000"/>
            <a:ext cx="224028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429000"/>
            <a:ext cx="2240280" cy="64008"/>
          </a:xfrm>
          <a:prstGeom prst="rect">
            <a:avLst/>
          </a:prstGeom>
          <a:solidFill>
            <a:srgbClr val="0F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BCD4"/>
                </a:solidFill>
              </a:rPr>
              <a:t>field_names.py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3977639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Solver type → valid BC / IC field names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Prevents wrong field assignments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429000"/>
            <a:ext cx="224028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3429000"/>
            <a:ext cx="224028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cross_refs.py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977639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Attribute → section mapping graph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Ensures all name references resolve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3429000"/>
            <a:ext cx="224028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64608" y="3429000"/>
            <a:ext cx="22402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sanity_rules.py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8" y="3977639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Physics heuristics + structural checks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Catches unphysical parameter combos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68896" y="3429000"/>
            <a:ext cx="224028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68896" y="3429000"/>
            <a:ext cx="2240280" cy="6400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336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B47BC"/>
                </a:solidFill>
              </a:rPr>
              <a:t>fluid_models.py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0336" y="3977639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NL keywords → solver + constitutive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assembly for 6 fluid scenarios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73184" y="3429000"/>
            <a:ext cx="224028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73184" y="3429000"/>
            <a:ext cx="2240280" cy="6400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5350"/>
                </a:solidFill>
              </a:rPr>
              <a:t>lessons_learned.md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3977639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Runtime error patterns and fixes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Grows via /geos:curate-errors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5943600"/>
            <a:ext cx="11631168" cy="658368"/>
          </a:xfrm>
          <a:prstGeom prst="rect">
            <a:avLst/>
          </a:prstGeom>
          <a:solidFill>
            <a:srgbClr val="0D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989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FBCD4"/>
                </a:solidFill>
              </a:rPr>
              <a:t>Key principle:  Tools never hardcode domain logic — they read from knowledge modules. New patterns discovered at runtime are added to the appropriate module, not to tools.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