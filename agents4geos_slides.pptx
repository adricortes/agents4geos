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9728"/>
          </a:xfrm>
          <a:prstGeom prst="rect">
            <a:avLst/>
          </a:prstGeom>
          <a:solidFill>
            <a:srgbClr val="0FBC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748272"/>
            <a:ext cx="12188952" cy="109728"/>
          </a:xfrm>
          <a:prstGeom prst="rect">
            <a:avLst/>
          </a:prstGeom>
          <a:solidFill>
            <a:srgbClr val="0FBC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9728"/>
            <a:ext cx="73152" cy="6638544"/>
          </a:xfrm>
          <a:prstGeom prst="rect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" y="457200"/>
            <a:ext cx="73152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5200" b="1" i="0">
                <a:solidFill>
                  <a:srgbClr val="0FBCD4"/>
                </a:solidFill>
              </a:rPr>
              <a:t>Agents4GEOS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" y="146304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 i="0">
                <a:solidFill>
                  <a:srgbClr val="CCCCCC"/>
                </a:solidFill>
              </a:rPr>
              <a:t>A multi-agent MCP server for natural-language GEOS simulation design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2148840"/>
            <a:ext cx="11612880" cy="27432"/>
          </a:xfrm>
          <a:prstGeom prst="rect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828800" y="2331720"/>
            <a:ext cx="2651760" cy="155448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920240" y="2423160"/>
            <a:ext cx="24688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0FBCD4"/>
                </a:solidFill>
              </a:rPr>
              <a:t>52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20240" y="3108960"/>
            <a:ext cx="24688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i="0">
                <a:solidFill>
                  <a:srgbClr val="CCCCCC"/>
                </a:solidFill>
              </a:rPr>
              <a:t>MCP Tools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754880" y="2331720"/>
            <a:ext cx="2651760" cy="155448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846320" y="2423160"/>
            <a:ext cx="24688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5A623"/>
                </a:solidFill>
              </a:rPr>
              <a:t>11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846320" y="3108960"/>
            <a:ext cx="24688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i="0">
                <a:solidFill>
                  <a:srgbClr val="CCCCCC"/>
                </a:solidFill>
              </a:rPr>
              <a:t>AI Agents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680960" y="2331720"/>
            <a:ext cx="2651760" cy="155448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0" y="2423160"/>
            <a:ext cx="24688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4CAF50"/>
                </a:solidFill>
              </a:rPr>
              <a:t>200+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0" y="3108960"/>
            <a:ext cx="24688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i="0">
                <a:solidFill>
                  <a:srgbClr val="CCCCCC"/>
                </a:solidFill>
              </a:rPr>
              <a:t>GEOS Examples
(knowledge base)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74320" y="406908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F5A623"/>
                </a:solidFill>
              </a:rPr>
              <a:t>What it does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74320" y="4434840"/>
            <a:ext cx="713232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</a:pPr>
            <a:r>
              <a:rPr sz="1600">
                <a:solidFill>
                  <a:srgbClr val="FFFFFF"/>
                </a:solidFill>
              </a:rPr>
              <a:t>• Converts plain-English simulation descriptions into validated GEOS XML</a:t>
            </a:r>
          </a:p>
          <a:p>
            <a:pPr>
              <a:spcBef>
                <a:spcPts val="400"/>
              </a:spcBef>
            </a:pPr>
            <a:r>
              <a:rPr sz="1600">
                <a:solidFill>
                  <a:srgbClr val="FFFFFF"/>
                </a:solidFill>
              </a:rPr>
              <a:t>• Handles single-phase / multiphase / CO₂-brine / thermal coupling</a:t>
            </a:r>
          </a:p>
          <a:p>
            <a:pPr>
              <a:spcBef>
                <a:spcPts val="400"/>
              </a:spcBef>
            </a:pPr>
            <a:r>
              <a:rPr sz="1600">
                <a:solidFill>
                  <a:srgbClr val="FFFFFF"/>
                </a:solidFill>
              </a:rPr>
              <a:t>• Covers the full workflow: mesh → fluids → XML assembly → validation → post-processing</a:t>
            </a:r>
          </a:p>
          <a:p>
            <a:pPr>
              <a:spcBef>
                <a:spcPts val="400"/>
              </a:spcBef>
            </a:pPr>
            <a:r>
              <a:rPr sz="1600">
                <a:solidFill>
                  <a:srgbClr val="FFFFFF"/>
                </a:solidFill>
              </a:rPr>
              <a:t>• Built on FastMCP + Claude Code slash commands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772400" y="4069080"/>
            <a:ext cx="4206240" cy="246888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909560" y="4160520"/>
            <a:ext cx="3931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0FBCD4"/>
                </a:solidFill>
              </a:rPr>
              <a:t>Tech Stack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909560" y="4526280"/>
            <a:ext cx="39319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300"/>
              </a:spcBef>
            </a:pPr>
            <a:r>
              <a:rPr sz="1500">
                <a:solidFill>
                  <a:srgbClr val="F5A623"/>
                </a:solidFill>
              </a:rPr>
              <a:t>  FastMCP</a:t>
            </a:r>
          </a:p>
          <a:p>
            <a:pPr>
              <a:spcBef>
                <a:spcPts val="300"/>
              </a:spcBef>
            </a:pPr>
            <a:r>
              <a:rPr sz="1500">
                <a:solidFill>
                  <a:srgbClr val="CCCCCC"/>
                </a:solidFill>
              </a:rPr>
              <a:t>  geos-tui  (schema / XML)</a:t>
            </a:r>
          </a:p>
          <a:p>
            <a:pPr>
              <a:spcBef>
                <a:spcPts val="300"/>
              </a:spcBef>
            </a:pPr>
            <a:r>
              <a:rPr sz="1500">
                <a:solidFill>
                  <a:srgbClr val="CCCCCC"/>
                </a:solidFill>
              </a:rPr>
              <a:t>  pyResToolbox  (fluid PVT)</a:t>
            </a:r>
          </a:p>
          <a:p>
            <a:pPr>
              <a:spcBef>
                <a:spcPts val="300"/>
              </a:spcBef>
            </a:pPr>
            <a:r>
              <a:rPr sz="1500">
                <a:solidFill>
                  <a:srgbClr val="CCCCCC"/>
                </a:solidFill>
              </a:rPr>
              <a:t>  PyVista  (mesh / VTK)</a:t>
            </a:r>
          </a:p>
          <a:p>
            <a:pPr>
              <a:spcBef>
                <a:spcPts val="300"/>
              </a:spcBef>
            </a:pPr>
            <a:r>
              <a:rPr sz="1500">
                <a:solidFill>
                  <a:srgbClr val="0FBCD4"/>
                </a:solidFill>
              </a:rPr>
              <a:t>  Claude Haiku / Sonnet / Opus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704320" y="6492240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CCCCCC"/>
                </a:solidFill>
              </a:rPr>
              <a:t>1 / 4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9728"/>
          </a:xfrm>
          <a:prstGeom prst="rect">
            <a:avLst/>
          </a:prstGeom>
          <a:solidFill>
            <a:srgbClr val="0FBC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748272"/>
            <a:ext cx="12188952" cy="109728"/>
          </a:xfrm>
          <a:prstGeom prst="rect">
            <a:avLst/>
          </a:prstGeom>
          <a:solidFill>
            <a:srgbClr val="0FBC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9728"/>
            <a:ext cx="73152" cy="6638544"/>
          </a:xfrm>
          <a:prstGeom prst="rect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28600" y="164592"/>
            <a:ext cx="118872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0FBCD4"/>
                </a:solidFill>
              </a:rPr>
              <a:t>Tool Architecture  —  52 MCP Tools in 6 Modules</a:t>
            </a:r>
          </a:p>
        </p:txBody>
      </p:sp>
      <p:sp>
        <p:nvSpPr>
          <p:cNvPr id="6" name="Rectangle 5"/>
          <p:cNvSpPr/>
          <p:nvPr/>
        </p:nvSpPr>
        <p:spPr>
          <a:xfrm>
            <a:off x="182880" y="777240"/>
            <a:ext cx="3840480" cy="256032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82880" y="777240"/>
            <a:ext cx="3840480" cy="64008"/>
          </a:xfrm>
          <a:prstGeom prst="rect">
            <a:avLst/>
          </a:prstGeom>
          <a:solidFill>
            <a:srgbClr val="0FBC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383280" y="868680"/>
            <a:ext cx="548640" cy="457200"/>
          </a:xfrm>
          <a:prstGeom prst="rect">
            <a:avLst/>
          </a:prstGeom>
          <a:solidFill>
            <a:srgbClr val="0FBC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383280" y="868680"/>
            <a:ext cx="548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1A1A2E"/>
                </a:solidFill>
              </a:rPr>
              <a:t>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0040" y="914400"/>
            <a:ext cx="30175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FBCD4"/>
                </a:solidFill>
              </a:rPr>
              <a:t>Schema &amp; Introspection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20040" y="1417319"/>
            <a:ext cx="3566160" cy="18287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>
                <a:solidFill>
                  <a:srgbClr val="CCCCCC"/>
                </a:solidFill>
              </a:rPr>
              <a:t>list_elements · get_element_info</a:t>
            </a:r>
          </a:p>
          <a:p>
            <a:r>
              <a:rPr sz="1200">
                <a:solidFill>
                  <a:srgbClr val="CCCCCC"/>
                </a:solidFill>
              </a:rPr>
              <a:t>get_children · get_required_attrs</a:t>
            </a:r>
          </a:p>
          <a:p>
            <a:r>
              <a:rPr sz="1200">
                <a:solidFill>
                  <a:srgbClr val="CCCCCC"/>
                </a:solidFill>
              </a:rPr>
              <a:t>validate_path · find_cross_refs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133088" y="777240"/>
            <a:ext cx="3840480" cy="256032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133088" y="777240"/>
            <a:ext cx="3840480" cy="64008"/>
          </a:xfrm>
          <a:prstGeom prst="rect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333488" y="868680"/>
            <a:ext cx="548640" cy="457200"/>
          </a:xfrm>
          <a:prstGeom prst="rect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333488" y="868680"/>
            <a:ext cx="548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1A1A2E"/>
                </a:solidFill>
              </a:rPr>
              <a:t>10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270248" y="914400"/>
            <a:ext cx="30175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5A623"/>
                </a:solidFill>
              </a:rPr>
              <a:t>Fluid &amp; Constitutive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270248" y="1417319"/>
            <a:ext cx="3566160" cy="18287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>
                <a:solidFill>
                  <a:srgbClr val="CCCCCC"/>
                </a:solidFill>
              </a:rPr>
              <a:t>compute_pvt · recommend_fluid_model</a:t>
            </a:r>
          </a:p>
          <a:p>
            <a:r>
              <a:rPr sz="1200">
                <a:solidFill>
                  <a:srgbClr val="CCCCCC"/>
                </a:solidFill>
              </a:rPr>
              <a:t>get_viscosity · get_density</a:t>
            </a:r>
          </a:p>
          <a:p>
            <a:r>
              <a:rPr sz="1200">
                <a:solidFill>
                  <a:srgbClr val="CCCCCC"/>
                </a:solidFill>
              </a:rPr>
              <a:t>build_co2_brine · build_dead_oil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083296" y="777240"/>
            <a:ext cx="3840480" cy="256032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083296" y="777240"/>
            <a:ext cx="3840480" cy="64008"/>
          </a:xfrm>
          <a:prstGeom prst="rect">
            <a:avLst/>
          </a:prstGeom>
          <a:solidFill>
            <a:srgbClr val="4CAF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11283696" y="868680"/>
            <a:ext cx="548640" cy="457200"/>
          </a:xfrm>
          <a:prstGeom prst="rect">
            <a:avLst/>
          </a:prstGeom>
          <a:solidFill>
            <a:srgbClr val="4CAF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1283696" y="868680"/>
            <a:ext cx="548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1A1A2E"/>
                </a:solidFill>
              </a:rPr>
              <a:t>8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20456" y="914400"/>
            <a:ext cx="30175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4CAF50"/>
                </a:solidFill>
              </a:rPr>
              <a:t>Mesh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20456" y="1417319"/>
            <a:ext cx="3566160" cy="18287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>
                <a:solidFill>
                  <a:srgbClr val="CCCCCC"/>
                </a:solidFill>
              </a:rPr>
              <a:t>create_box_mesh · create_vtk_mesh</a:t>
            </a:r>
          </a:p>
          <a:p>
            <a:r>
              <a:rPr sz="1200">
                <a:solidFill>
                  <a:srgbClr val="CCCCCC"/>
                </a:solidFill>
              </a:rPr>
              <a:t>visualise_mesh · mesh_statistics</a:t>
            </a:r>
          </a:p>
          <a:p>
            <a:r>
              <a:rPr sz="1200">
                <a:solidFill>
                  <a:srgbClr val="CCCCCC"/>
                </a:solidFill>
              </a:rPr>
              <a:t>convert_mesh · inspect_gmsh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82880" y="3520440"/>
            <a:ext cx="3840480" cy="256032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182880" y="3520440"/>
            <a:ext cx="3840480" cy="64008"/>
          </a:xfrm>
          <a:prstGeom prst="rect">
            <a:avLst/>
          </a:prstGeom>
          <a:solidFill>
            <a:srgbClr val="AB47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3383280" y="3611880"/>
            <a:ext cx="548640" cy="457200"/>
          </a:xfrm>
          <a:prstGeom prst="rect">
            <a:avLst/>
          </a:prstGeom>
          <a:solidFill>
            <a:srgbClr val="AB47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383280" y="3611880"/>
            <a:ext cx="548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1A1A2E"/>
                </a:solidFill>
              </a:rPr>
              <a:t>14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20040" y="3657600"/>
            <a:ext cx="30175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AB47BC"/>
                </a:solidFill>
              </a:rPr>
              <a:t>XML Assembly &amp; Validation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20040" y="4160520"/>
            <a:ext cx="3566160" cy="18287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>
                <a:solidFill>
                  <a:srgbClr val="CCCCCC"/>
                </a:solidFill>
              </a:rPr>
              <a:t>create_document · add_element</a:t>
            </a:r>
          </a:p>
          <a:p>
            <a:r>
              <a:rPr sz="1200">
                <a:solidFill>
                  <a:srgbClr val="CCCCCC"/>
                </a:solidFill>
              </a:rPr>
              <a:t>set_attribute · validate_xml</a:t>
            </a:r>
          </a:p>
          <a:p>
            <a:r>
              <a:rPr sz="1200">
                <a:solidFill>
                  <a:srgbClr val="CCCCCC"/>
                </a:solidFill>
              </a:rPr>
              <a:t>cross_ref_check · save_document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133088" y="3520440"/>
            <a:ext cx="3840480" cy="256032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4133088" y="3520440"/>
            <a:ext cx="3840480" cy="64008"/>
          </a:xfrm>
          <a:prstGeom prst="rect">
            <a:avLst/>
          </a:prstGeom>
          <a:solidFill>
            <a:srgbClr val="EF53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7333488" y="3611880"/>
            <a:ext cx="548640" cy="457200"/>
          </a:xfrm>
          <a:prstGeom prst="rect">
            <a:avLst/>
          </a:prstGeom>
          <a:solidFill>
            <a:srgbClr val="EF53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333488" y="3611880"/>
            <a:ext cx="548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1A1A2E"/>
                </a:solidFill>
              </a:rPr>
              <a:t>9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270248" y="3657600"/>
            <a:ext cx="30175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EF5350"/>
                </a:solidFill>
              </a:rPr>
              <a:t>Post-Processing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270248" y="4160520"/>
            <a:ext cx="3566160" cy="18287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>
                <a:solidFill>
                  <a:srgbClr val="CCCCCC"/>
                </a:solidFill>
              </a:rPr>
              <a:t>list_vtk_fields · plot_field</a:t>
            </a:r>
          </a:p>
          <a:p>
            <a:r>
              <a:rPr sz="1200">
                <a:solidFill>
                  <a:srgbClr val="CCCCCC"/>
                </a:solidFill>
              </a:rPr>
              <a:t>time_series · compute_gradient</a:t>
            </a:r>
          </a:p>
          <a:p>
            <a:r>
              <a:rPr sz="1200">
                <a:solidFill>
                  <a:srgbClr val="CCCCCC"/>
                </a:solidFill>
              </a:rPr>
              <a:t>extract_slice · summarise_output</a:t>
            </a:r>
          </a:p>
        </p:txBody>
      </p:sp>
      <p:sp>
        <p:nvSpPr>
          <p:cNvPr id="36" name="Rectangle 35"/>
          <p:cNvSpPr/>
          <p:nvPr/>
        </p:nvSpPr>
        <p:spPr>
          <a:xfrm>
            <a:off x="8083296" y="3520440"/>
            <a:ext cx="3840480" cy="256032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8083296" y="3520440"/>
            <a:ext cx="3840480" cy="64008"/>
          </a:xfrm>
          <a:prstGeom prst="rect">
            <a:avLst/>
          </a:prstGeom>
          <a:solidFill>
            <a:srgbClr val="FFB7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11283696" y="3611880"/>
            <a:ext cx="548640" cy="457200"/>
          </a:xfrm>
          <a:prstGeom prst="rect">
            <a:avLst/>
          </a:prstGeom>
          <a:solidFill>
            <a:srgbClr val="FFB7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1283696" y="3611880"/>
            <a:ext cx="548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1A1A2E"/>
                </a:solidFill>
              </a:rPr>
              <a:t>4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220456" y="3657600"/>
            <a:ext cx="30175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B74D"/>
                </a:solidFill>
              </a:rPr>
              <a:t>Pre-Processing / Utilities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220456" y="4160520"/>
            <a:ext cx="3566160" cy="18287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>
                <a:solidFill>
                  <a:srgbClr val="CCCCCC"/>
                </a:solidFill>
              </a:rPr>
              <a:t>convert_units · expand_params</a:t>
            </a:r>
          </a:p>
          <a:p>
            <a:r>
              <a:rPr sz="1200">
                <a:solidFill>
                  <a:srgbClr val="CCCCCC"/>
                </a:solidFill>
              </a:rPr>
              <a:t>resolve_includes · health_check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1704320" y="6492240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CCCCCC"/>
                </a:solidFill>
              </a:rPr>
              <a:t>2 / 4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9728"/>
          </a:xfrm>
          <a:prstGeom prst="rect">
            <a:avLst/>
          </a:prstGeom>
          <a:solidFill>
            <a:srgbClr val="0FBC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748272"/>
            <a:ext cx="12188952" cy="109728"/>
          </a:xfrm>
          <a:prstGeom prst="rect">
            <a:avLst/>
          </a:prstGeom>
          <a:solidFill>
            <a:srgbClr val="0FBC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9728"/>
            <a:ext cx="73152" cy="6638544"/>
          </a:xfrm>
          <a:prstGeom prst="rect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28600" y="164592"/>
            <a:ext cx="118872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0FBCD4"/>
                </a:solidFill>
              </a:rPr>
              <a:t>Agent Taxonomy  &amp;  Orchestration Flow</a:t>
            </a:r>
          </a:p>
        </p:txBody>
      </p:sp>
      <p:sp>
        <p:nvSpPr>
          <p:cNvPr id="6" name="Rectangle 5"/>
          <p:cNvSpPr/>
          <p:nvPr/>
        </p:nvSpPr>
        <p:spPr>
          <a:xfrm>
            <a:off x="182880" y="777240"/>
            <a:ext cx="6492240" cy="576072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20040" y="822960"/>
            <a:ext cx="6217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F5A623"/>
                </a:solidFill>
              </a:rPr>
              <a:t>11 Specialised Agents</a:t>
            </a:r>
          </a:p>
        </p:txBody>
      </p:sp>
      <p:sp>
        <p:nvSpPr>
          <p:cNvPr id="8" name="Rectangle 7"/>
          <p:cNvSpPr/>
          <p:nvPr/>
        </p:nvSpPr>
        <p:spPr>
          <a:xfrm>
            <a:off x="228600" y="1261872"/>
            <a:ext cx="6400800" cy="292608"/>
          </a:xfrm>
          <a:prstGeom prst="rect">
            <a:avLst/>
          </a:prstGeom>
          <a:solidFill>
            <a:srgbClr val="0D47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74320" y="1280160"/>
            <a:ext cx="2286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Agent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606040" y="1280160"/>
            <a:ext cx="457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Tier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108960" y="1280160"/>
            <a:ext cx="1097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Model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251960" y="1280160"/>
            <a:ext cx="2286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Role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28600" y="1554480"/>
            <a:ext cx="6400800" cy="402336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74320" y="160020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0FBCD4"/>
                </a:solidFill>
              </a:rPr>
              <a:t>/geos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606040" y="1600200"/>
            <a:ext cx="411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4CAF50"/>
                </a:solidFill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108960" y="1600200"/>
            <a:ext cx="10515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4CAF50"/>
                </a:solidFill>
              </a:rPr>
              <a:t>Opus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251960" y="1600200"/>
            <a:ext cx="2331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CCCCCC"/>
                </a:solidFill>
              </a:rPr>
              <a:t>Main orchestrator  (all tools)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28600" y="1975104"/>
            <a:ext cx="6400800" cy="402336"/>
          </a:xfrm>
          <a:prstGeom prst="rect">
            <a:avLst/>
          </a:prstGeom>
          <a:solidFill>
            <a:srgbClr val="1018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74320" y="2020824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0FBCD4"/>
                </a:solidFill>
              </a:rPr>
              <a:t>/geos:edit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606040" y="2020824"/>
            <a:ext cx="411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5A623"/>
                </a:solidFill>
              </a:rPr>
              <a:t>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108960" y="2020824"/>
            <a:ext cx="10515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5A623"/>
                </a:solidFill>
              </a:rPr>
              <a:t>Sonnet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251960" y="2020824"/>
            <a:ext cx="2331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CCCCCC"/>
                </a:solidFill>
              </a:rPr>
              <a:t>XML modification &amp; editing</a:t>
            </a:r>
          </a:p>
        </p:txBody>
      </p:sp>
      <p:sp>
        <p:nvSpPr>
          <p:cNvPr id="23" name="Rectangle 22"/>
          <p:cNvSpPr/>
          <p:nvPr/>
        </p:nvSpPr>
        <p:spPr>
          <a:xfrm>
            <a:off x="228600" y="2395728"/>
            <a:ext cx="6400800" cy="402336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274320" y="2441448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0FBCD4"/>
                </a:solidFill>
              </a:rPr>
              <a:t>/geos:validate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606040" y="2441448"/>
            <a:ext cx="411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5A623"/>
                </a:solidFill>
              </a:rPr>
              <a:t>2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108960" y="2441448"/>
            <a:ext cx="10515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5A623"/>
                </a:solidFill>
              </a:rPr>
              <a:t>Sonnet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251960" y="2441448"/>
            <a:ext cx="2331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CCCCCC"/>
                </a:solidFill>
              </a:rPr>
              <a:t>Schema + physics validation</a:t>
            </a:r>
          </a:p>
        </p:txBody>
      </p:sp>
      <p:sp>
        <p:nvSpPr>
          <p:cNvPr id="28" name="Rectangle 27"/>
          <p:cNvSpPr/>
          <p:nvPr/>
        </p:nvSpPr>
        <p:spPr>
          <a:xfrm>
            <a:off x="228600" y="2816352"/>
            <a:ext cx="6400800" cy="402336"/>
          </a:xfrm>
          <a:prstGeom prst="rect">
            <a:avLst/>
          </a:prstGeom>
          <a:solidFill>
            <a:srgbClr val="1018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274320" y="2862072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0FBCD4"/>
                </a:solidFill>
              </a:rPr>
              <a:t>/geos:fluids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606040" y="2862072"/>
            <a:ext cx="411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5A623"/>
                </a:solidFill>
              </a:rPr>
              <a:t>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108960" y="2862072"/>
            <a:ext cx="10515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5A623"/>
                </a:solidFill>
              </a:rPr>
              <a:t>Sonnet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251960" y="2862072"/>
            <a:ext cx="2331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CCCCCC"/>
                </a:solidFill>
              </a:rPr>
              <a:t>Fluid PVT &amp; constitutive models</a:t>
            </a:r>
          </a:p>
        </p:txBody>
      </p:sp>
      <p:sp>
        <p:nvSpPr>
          <p:cNvPr id="33" name="Rectangle 32"/>
          <p:cNvSpPr/>
          <p:nvPr/>
        </p:nvSpPr>
        <p:spPr>
          <a:xfrm>
            <a:off x="228600" y="3236976"/>
            <a:ext cx="6400800" cy="402336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274320" y="3282696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0FBCD4"/>
                </a:solidFill>
              </a:rPr>
              <a:t>/geos:mesh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606040" y="3282696"/>
            <a:ext cx="411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5A623"/>
                </a:solidFill>
              </a:rPr>
              <a:t>2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108960" y="3282696"/>
            <a:ext cx="10515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5A623"/>
                </a:solidFill>
              </a:rPr>
              <a:t>Sonnet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251960" y="3282696"/>
            <a:ext cx="2331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CCCCCC"/>
                </a:solidFill>
              </a:rPr>
              <a:t>Mesh creation &amp; visualisation</a:t>
            </a:r>
          </a:p>
        </p:txBody>
      </p:sp>
      <p:sp>
        <p:nvSpPr>
          <p:cNvPr id="38" name="Rectangle 37"/>
          <p:cNvSpPr/>
          <p:nvPr/>
        </p:nvSpPr>
        <p:spPr>
          <a:xfrm>
            <a:off x="228600" y="3657600"/>
            <a:ext cx="6400800" cy="402336"/>
          </a:xfrm>
          <a:prstGeom prst="rect">
            <a:avLst/>
          </a:prstGeom>
          <a:solidFill>
            <a:srgbClr val="1018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274320" y="370332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0FBCD4"/>
                </a:solidFill>
              </a:rPr>
              <a:t>/geos:relperm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2606040" y="3703320"/>
            <a:ext cx="411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5A623"/>
                </a:solidFill>
              </a:rPr>
              <a:t>2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108960" y="3703320"/>
            <a:ext cx="10515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5A623"/>
                </a:solidFill>
              </a:rPr>
              <a:t>Sonnet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251960" y="3703320"/>
            <a:ext cx="2331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CCCCCC"/>
                </a:solidFill>
              </a:rPr>
              <a:t>Rel-perm / cap-pressure curves</a:t>
            </a:r>
          </a:p>
        </p:txBody>
      </p:sp>
      <p:sp>
        <p:nvSpPr>
          <p:cNvPr id="43" name="Rectangle 42"/>
          <p:cNvSpPr/>
          <p:nvPr/>
        </p:nvSpPr>
        <p:spPr>
          <a:xfrm>
            <a:off x="228600" y="4078224"/>
            <a:ext cx="6400800" cy="402336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274320" y="4123944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0FBCD4"/>
                </a:solidFill>
              </a:rPr>
              <a:t>/geos:postprocess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2606040" y="4123944"/>
            <a:ext cx="411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5A623"/>
                </a:solidFill>
              </a:rPr>
              <a:t>2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108960" y="4123944"/>
            <a:ext cx="10515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5A623"/>
                </a:solidFill>
              </a:rPr>
              <a:t>Sonnet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251960" y="4123944"/>
            <a:ext cx="2331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CCCCCC"/>
                </a:solidFill>
              </a:rPr>
              <a:t>VTK output analysis</a:t>
            </a:r>
          </a:p>
        </p:txBody>
      </p:sp>
      <p:sp>
        <p:nvSpPr>
          <p:cNvPr id="48" name="Rectangle 47"/>
          <p:cNvSpPr/>
          <p:nvPr/>
        </p:nvSpPr>
        <p:spPr>
          <a:xfrm>
            <a:off x="228600" y="4498848"/>
            <a:ext cx="6400800" cy="402336"/>
          </a:xfrm>
          <a:prstGeom prst="rect">
            <a:avLst/>
          </a:prstGeom>
          <a:solidFill>
            <a:srgbClr val="1018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274320" y="4544568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0FBCD4"/>
                </a:solidFill>
              </a:rPr>
              <a:t>/geos:schema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606040" y="4544568"/>
            <a:ext cx="411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42A5F5"/>
                </a:solidFill>
              </a:rPr>
              <a:t>1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108960" y="4544568"/>
            <a:ext cx="10515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42A5F5"/>
                </a:solidFill>
              </a:rPr>
              <a:t>Haiku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51960" y="4544568"/>
            <a:ext cx="2331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CCCCCC"/>
                </a:solidFill>
              </a:rPr>
              <a:t>Schema introspection (read-only)</a:t>
            </a:r>
          </a:p>
        </p:txBody>
      </p:sp>
      <p:sp>
        <p:nvSpPr>
          <p:cNvPr id="53" name="Rectangle 52"/>
          <p:cNvSpPr/>
          <p:nvPr/>
        </p:nvSpPr>
        <p:spPr>
          <a:xfrm>
            <a:off x="228600" y="4919472"/>
            <a:ext cx="6400800" cy="402336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274320" y="4965192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0FBCD4"/>
                </a:solidFill>
              </a:rPr>
              <a:t>/geos:inspect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2606040" y="4965192"/>
            <a:ext cx="411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42A5F5"/>
                </a:solidFill>
              </a:rPr>
              <a:t>1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3108960" y="4965192"/>
            <a:ext cx="10515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42A5F5"/>
                </a:solidFill>
              </a:rPr>
              <a:t>Haiku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251960" y="4965192"/>
            <a:ext cx="2331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CCCCCC"/>
                </a:solidFill>
              </a:rPr>
              <a:t>XML inspection (read-only)</a:t>
            </a:r>
          </a:p>
        </p:txBody>
      </p:sp>
      <p:sp>
        <p:nvSpPr>
          <p:cNvPr id="58" name="Rectangle 57"/>
          <p:cNvSpPr/>
          <p:nvPr/>
        </p:nvSpPr>
        <p:spPr>
          <a:xfrm>
            <a:off x="228600" y="5340096"/>
            <a:ext cx="6400800" cy="402336"/>
          </a:xfrm>
          <a:prstGeom prst="rect">
            <a:avLst/>
          </a:prstGeom>
          <a:solidFill>
            <a:srgbClr val="1018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274320" y="5385816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0FBCD4"/>
                </a:solidFill>
              </a:rPr>
              <a:t>/geos:run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2606040" y="5385816"/>
            <a:ext cx="411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4CAF50"/>
                </a:solidFill>
              </a:rPr>
              <a:t>3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3108960" y="5385816"/>
            <a:ext cx="10515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4CAF50"/>
                </a:solidFill>
              </a:rPr>
              <a:t>Opus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4251960" y="5385816"/>
            <a:ext cx="2331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CCCCCC"/>
                </a:solidFill>
              </a:rPr>
              <a:t>Run simulation &amp; diagnose errors</a:t>
            </a:r>
          </a:p>
        </p:txBody>
      </p:sp>
      <p:sp>
        <p:nvSpPr>
          <p:cNvPr id="63" name="Rectangle 62"/>
          <p:cNvSpPr/>
          <p:nvPr/>
        </p:nvSpPr>
        <p:spPr>
          <a:xfrm>
            <a:off x="228600" y="5760720"/>
            <a:ext cx="6400800" cy="402336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274320" y="580644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0FBCD4"/>
                </a:solidFill>
              </a:rPr>
              <a:t>/geos:curate-errors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2606040" y="5806440"/>
            <a:ext cx="411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42A5F5"/>
                </a:solidFill>
              </a:rPr>
              <a:t>1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3108960" y="5806440"/>
            <a:ext cx="10515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42A5F5"/>
                </a:solidFill>
              </a:rPr>
              <a:t>Haiku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4251960" y="5806440"/>
            <a:ext cx="2331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CCCCCC"/>
                </a:solidFill>
              </a:rPr>
              <a:t>Log runtime errors for learning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6949440" y="777240"/>
            <a:ext cx="5029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F5A623"/>
                </a:solidFill>
              </a:rPr>
              <a:t>Orchestration Patterns</a:t>
            </a:r>
          </a:p>
        </p:txBody>
      </p:sp>
      <p:sp>
        <p:nvSpPr>
          <p:cNvPr id="69" name="Rectangle 68"/>
          <p:cNvSpPr/>
          <p:nvPr/>
        </p:nvSpPr>
        <p:spPr>
          <a:xfrm>
            <a:off x="6903720" y="1261872"/>
            <a:ext cx="5074920" cy="137160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Rectangle 69"/>
          <p:cNvSpPr/>
          <p:nvPr/>
        </p:nvSpPr>
        <p:spPr>
          <a:xfrm>
            <a:off x="6903720" y="1261872"/>
            <a:ext cx="64008" cy="1371600"/>
          </a:xfrm>
          <a:prstGeom prst="rect">
            <a:avLst/>
          </a:prstGeom>
          <a:solidFill>
            <a:srgbClr val="0FBC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7059168" y="1335024"/>
            <a:ext cx="4754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FBCD4"/>
                </a:solidFill>
              </a:rPr>
              <a:t>Pipeline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7059168" y="1719072"/>
            <a:ext cx="47548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>
                <a:solidFill>
                  <a:srgbClr val="CCCCCC"/>
                </a:solidFill>
              </a:rPr>
              <a:t>/geos:fluids → /geos → /geos:validate</a:t>
            </a:r>
          </a:p>
          <a:p>
            <a:r>
              <a:rPr sz="1300">
                <a:solidFill>
                  <a:srgbClr val="CCCCCC"/>
                </a:solidFill>
              </a:rPr>
              <a:t>Output flows sequentially through agents</a:t>
            </a:r>
          </a:p>
        </p:txBody>
      </p:sp>
      <p:sp>
        <p:nvSpPr>
          <p:cNvPr id="73" name="Rectangle 72"/>
          <p:cNvSpPr/>
          <p:nvPr/>
        </p:nvSpPr>
        <p:spPr>
          <a:xfrm>
            <a:off x="6903720" y="2743200"/>
            <a:ext cx="5074920" cy="137160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Rectangle 73"/>
          <p:cNvSpPr/>
          <p:nvPr/>
        </p:nvSpPr>
        <p:spPr>
          <a:xfrm>
            <a:off x="6903720" y="2743200"/>
            <a:ext cx="64008" cy="1371600"/>
          </a:xfrm>
          <a:prstGeom prst="rect">
            <a:avLst/>
          </a:prstGeom>
          <a:solidFill>
            <a:srgbClr val="4CAF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7059168" y="2816352"/>
            <a:ext cx="4754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4CAF50"/>
                </a:solidFill>
              </a:rPr>
              <a:t>Fan-out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7059168" y="3200400"/>
            <a:ext cx="47548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>
                <a:solidFill>
                  <a:srgbClr val="CCCCCC"/>
                </a:solidFill>
              </a:rPr>
              <a:t>/geos dispatches mesh + fluids in parallel</a:t>
            </a:r>
          </a:p>
          <a:p>
            <a:r>
              <a:rPr sz="1300">
                <a:solidFill>
                  <a:srgbClr val="CCCCCC"/>
                </a:solidFill>
              </a:rPr>
              <a:t>Results merged before XML assembly</a:t>
            </a:r>
          </a:p>
        </p:txBody>
      </p:sp>
      <p:sp>
        <p:nvSpPr>
          <p:cNvPr id="77" name="Rectangle 76"/>
          <p:cNvSpPr/>
          <p:nvPr/>
        </p:nvSpPr>
        <p:spPr>
          <a:xfrm>
            <a:off x="6903720" y="4224528"/>
            <a:ext cx="5074920" cy="137160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Rectangle 77"/>
          <p:cNvSpPr/>
          <p:nvPr/>
        </p:nvSpPr>
        <p:spPr>
          <a:xfrm>
            <a:off x="6903720" y="4224528"/>
            <a:ext cx="64008" cy="1371600"/>
          </a:xfrm>
          <a:prstGeom prst="rect">
            <a:avLst/>
          </a:prstGeom>
          <a:solidFill>
            <a:srgbClr val="AB47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7059168" y="4297680"/>
            <a:ext cx="4754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AB47BC"/>
                </a:solidFill>
              </a:rPr>
              <a:t>Feedback Loop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7059168" y="4681728"/>
            <a:ext cx="47548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>
                <a:solidFill>
                  <a:srgbClr val="CCCCCC"/>
                </a:solidFill>
              </a:rPr>
              <a:t>Produce → Review → Re-invoke (bounded)</a:t>
            </a:r>
          </a:p>
          <a:p>
            <a:r>
              <a:rPr sz="1300">
                <a:solidFill>
                  <a:srgbClr val="CCCCCC"/>
                </a:solidFill>
              </a:rPr>
              <a:t>e.g. XML → validate → fix → re-validate</a:t>
            </a:r>
          </a:p>
        </p:txBody>
      </p:sp>
      <p:sp>
        <p:nvSpPr>
          <p:cNvPr id="81" name="Rectangle 80"/>
          <p:cNvSpPr/>
          <p:nvPr/>
        </p:nvSpPr>
        <p:spPr>
          <a:xfrm>
            <a:off x="6903720" y="5797296"/>
            <a:ext cx="5074920" cy="137160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7040880" y="5870448"/>
            <a:ext cx="4846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5A623"/>
                </a:solidFill>
              </a:rPr>
              <a:t>Cognitive Tiers  →  Model Routing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967728" y="6208776"/>
            <a:ext cx="1371600" cy="256032"/>
          </a:xfrm>
          <a:prstGeom prst="rect">
            <a:avLst/>
          </a:prstGeom>
          <a:solidFill>
            <a:srgbClr val="42A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976872" y="6227064"/>
            <a:ext cx="1353312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1A1A2E"/>
                </a:solidFill>
              </a:rPr>
              <a:t>Tier 1  Haiku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8412480" y="6227064"/>
            <a:ext cx="34747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CCCCCC"/>
                </a:solidFill>
              </a:rPr>
              <a:t>Lookup, extraction, formatting</a:t>
            </a:r>
          </a:p>
        </p:txBody>
      </p:sp>
      <p:sp>
        <p:nvSpPr>
          <p:cNvPr id="86" name="Rectangle 85"/>
          <p:cNvSpPr/>
          <p:nvPr/>
        </p:nvSpPr>
        <p:spPr>
          <a:xfrm>
            <a:off x="6967728" y="6510528"/>
            <a:ext cx="1371600" cy="256032"/>
          </a:xfrm>
          <a:prstGeom prst="rect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6976872" y="6528816"/>
            <a:ext cx="1353312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1A1A2E"/>
                </a:solidFill>
              </a:rPr>
              <a:t>Tier 2  Sonnet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8412480" y="6528816"/>
            <a:ext cx="34747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CCCCCC"/>
                </a:solidFill>
              </a:rPr>
              <a:t>Synthesis, assembly, validation</a:t>
            </a:r>
          </a:p>
        </p:txBody>
      </p:sp>
      <p:sp>
        <p:nvSpPr>
          <p:cNvPr id="89" name="Rectangle 88"/>
          <p:cNvSpPr/>
          <p:nvPr/>
        </p:nvSpPr>
        <p:spPr>
          <a:xfrm>
            <a:off x="6967728" y="6812280"/>
            <a:ext cx="1371600" cy="256032"/>
          </a:xfrm>
          <a:prstGeom prst="rect">
            <a:avLst/>
          </a:prstGeom>
          <a:solidFill>
            <a:srgbClr val="4CAF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6976872" y="6830568"/>
            <a:ext cx="1353312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1A1A2E"/>
                </a:solidFill>
              </a:rPr>
              <a:t>Tier 3  Opus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8412480" y="6830568"/>
            <a:ext cx="34747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CCCCCC"/>
                </a:solidFill>
              </a:rPr>
              <a:t>Planning, multi-step reasoning, dialogue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6967728" y="7223760"/>
            <a:ext cx="4937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909090"/>
                </a:solidFill>
              </a:rPr>
              <a:t>Key rule: all agent-to-agent handoffs pass structured data, never free-form prose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11704320" y="6492240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CCCCCC"/>
                </a:solidFill>
              </a:rPr>
              <a:t>3 / 4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9728"/>
          </a:xfrm>
          <a:prstGeom prst="rect">
            <a:avLst/>
          </a:prstGeom>
          <a:solidFill>
            <a:srgbClr val="0FBC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748272"/>
            <a:ext cx="12188952" cy="109728"/>
          </a:xfrm>
          <a:prstGeom prst="rect">
            <a:avLst/>
          </a:prstGeom>
          <a:solidFill>
            <a:srgbClr val="0FBC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9728"/>
            <a:ext cx="73152" cy="6638544"/>
          </a:xfrm>
          <a:prstGeom prst="rect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28600" y="164592"/>
            <a:ext cx="118872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0FBCD4"/>
                </a:solidFill>
              </a:rPr>
              <a:t>End-to-End Workflow  &amp;  Knowledge Base</a:t>
            </a:r>
          </a:p>
        </p:txBody>
      </p:sp>
      <p:sp>
        <p:nvSpPr>
          <p:cNvPr id="6" name="Rectangle 5"/>
          <p:cNvSpPr/>
          <p:nvPr/>
        </p:nvSpPr>
        <p:spPr>
          <a:xfrm>
            <a:off x="274320" y="822960"/>
            <a:ext cx="1783080" cy="1280160"/>
          </a:xfrm>
          <a:prstGeom prst="rect">
            <a:avLst/>
          </a:prstGeom>
          <a:solidFill>
            <a:srgbClr val="0FBC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20040" y="914400"/>
            <a:ext cx="1691639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1A1A2E"/>
                </a:solidFill>
              </a:rPr>
              <a:t>Natural
Language
Input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075688" y="1234440"/>
            <a:ext cx="29260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CCCCCC"/>
                </a:solidFill>
              </a:rPr>
              <a:t>▶</a:t>
            </a:r>
          </a:p>
        </p:txBody>
      </p:sp>
      <p:sp>
        <p:nvSpPr>
          <p:cNvPr id="9" name="Rectangle 8"/>
          <p:cNvSpPr/>
          <p:nvPr/>
        </p:nvSpPr>
        <p:spPr>
          <a:xfrm>
            <a:off x="2194560" y="822960"/>
            <a:ext cx="1783080" cy="1280160"/>
          </a:xfrm>
          <a:prstGeom prst="rect">
            <a:avLst/>
          </a:prstGeom>
          <a:solidFill>
            <a:srgbClr val="4CAF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240279" y="914400"/>
            <a:ext cx="1691639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1A1A2E"/>
                </a:solidFill>
              </a:rPr>
              <a:t>Mesh
/geos:mesh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995927" y="1234440"/>
            <a:ext cx="29260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CCCCCC"/>
                </a:solidFill>
              </a:rPr>
              <a:t>▶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114800" y="822960"/>
            <a:ext cx="1783080" cy="1280160"/>
          </a:xfrm>
          <a:prstGeom prst="rect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160520" y="914400"/>
            <a:ext cx="1691639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1A1A2E"/>
                </a:solidFill>
              </a:rPr>
              <a:t>Fluids
/geos:fluids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16168" y="1234440"/>
            <a:ext cx="29260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CCCCCC"/>
                </a:solidFill>
              </a:rPr>
              <a:t>▶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035040" y="822960"/>
            <a:ext cx="1783080" cy="1280160"/>
          </a:xfrm>
          <a:prstGeom prst="rect">
            <a:avLst/>
          </a:prstGeom>
          <a:solidFill>
            <a:srgbClr val="AB47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080759" y="914400"/>
            <a:ext cx="1691639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1A1A2E"/>
                </a:solidFill>
              </a:rPr>
              <a:t>XML Assembly
/geos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836407" y="1234440"/>
            <a:ext cx="29260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CCCCCC"/>
                </a:solidFill>
              </a:rPr>
              <a:t>▶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955279" y="822960"/>
            <a:ext cx="1783080" cy="1280160"/>
          </a:xfrm>
          <a:prstGeom prst="rect">
            <a:avLst/>
          </a:prstGeom>
          <a:solidFill>
            <a:srgbClr val="EF53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01000" y="914400"/>
            <a:ext cx="1691639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1A1A2E"/>
                </a:solidFill>
              </a:rPr>
              <a:t>Validation
/geos:validate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756647" y="1234440"/>
            <a:ext cx="29260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CCCCCC"/>
                </a:solidFill>
              </a:rPr>
              <a:t>▶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875520" y="822960"/>
            <a:ext cx="1783080" cy="1280160"/>
          </a:xfrm>
          <a:prstGeom prst="rect">
            <a:avLst/>
          </a:prstGeom>
          <a:solidFill>
            <a:srgbClr val="FFB7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921240" y="914400"/>
            <a:ext cx="1691639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1A1A2E"/>
                </a:solidFill>
              </a:rPr>
              <a:t>Post-Process
/geos:post</a:t>
            </a:r>
          </a:p>
        </p:txBody>
      </p:sp>
      <p:sp>
        <p:nvSpPr>
          <p:cNvPr id="23" name="Rectangle 22"/>
          <p:cNvSpPr/>
          <p:nvPr/>
        </p:nvSpPr>
        <p:spPr>
          <a:xfrm>
            <a:off x="274320" y="2331720"/>
            <a:ext cx="11612880" cy="45720"/>
          </a:xfrm>
          <a:prstGeom prst="rect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274320" y="2423160"/>
            <a:ext cx="116128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0" i="1">
                <a:solidFill>
                  <a:srgbClr val="CCCCCC"/>
                </a:solidFill>
              </a:rPr>
              <a:t>Output: validated GEOS XML  (200-500 lines with correct cross-references)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74320" y="2926080"/>
            <a:ext cx="116128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F5A623"/>
                </a:solidFill>
              </a:rPr>
              <a:t>Knowledge Base  —  Domain Expertise Encoded in 5 Modules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56032" y="3429000"/>
            <a:ext cx="2240280" cy="242316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256032" y="3429000"/>
            <a:ext cx="2240280" cy="64008"/>
          </a:xfrm>
          <a:prstGeom prst="rect">
            <a:avLst/>
          </a:prstGeom>
          <a:solidFill>
            <a:srgbClr val="0FBC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47472" y="3538728"/>
            <a:ext cx="2103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FBCD4"/>
                </a:solidFill>
              </a:rPr>
              <a:t>field_names.py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47472" y="3977639"/>
            <a:ext cx="2057400" cy="1783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300"/>
              </a:spcBef>
            </a:pPr>
            <a:r>
              <a:rPr sz="1200">
                <a:solidFill>
                  <a:srgbClr val="CCCCCC"/>
                </a:solidFill>
              </a:rPr>
              <a:t>Solver type → valid BC / IC field names</a:t>
            </a:r>
          </a:p>
          <a:p>
            <a:pPr>
              <a:spcBef>
                <a:spcPts val="300"/>
              </a:spcBef>
            </a:pPr>
            <a:r>
              <a:rPr sz="1200">
                <a:solidFill>
                  <a:srgbClr val="CCCCCC"/>
                </a:solidFill>
              </a:rPr>
              <a:t>Prevents wrong field assignments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560320" y="3429000"/>
            <a:ext cx="2240280" cy="242316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2560320" y="3429000"/>
            <a:ext cx="2240280" cy="64008"/>
          </a:xfrm>
          <a:prstGeom prst="rect">
            <a:avLst/>
          </a:prstGeom>
          <a:solidFill>
            <a:srgbClr val="4CAF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2651760" y="3538728"/>
            <a:ext cx="2103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4CAF50"/>
                </a:solidFill>
              </a:rPr>
              <a:t>cross_refs.py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651760" y="3977639"/>
            <a:ext cx="2057400" cy="1783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300"/>
              </a:spcBef>
            </a:pPr>
            <a:r>
              <a:rPr sz="1200">
                <a:solidFill>
                  <a:srgbClr val="CCCCCC"/>
                </a:solidFill>
              </a:rPr>
              <a:t>Attribute → section mapping graph</a:t>
            </a:r>
          </a:p>
          <a:p>
            <a:pPr>
              <a:spcBef>
                <a:spcPts val="300"/>
              </a:spcBef>
            </a:pPr>
            <a:r>
              <a:rPr sz="1200">
                <a:solidFill>
                  <a:srgbClr val="CCCCCC"/>
                </a:solidFill>
              </a:rPr>
              <a:t>Ensures all name references resolve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864608" y="3429000"/>
            <a:ext cx="2240280" cy="242316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4864608" y="3429000"/>
            <a:ext cx="2240280" cy="64008"/>
          </a:xfrm>
          <a:prstGeom prst="rect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956048" y="3538728"/>
            <a:ext cx="2103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5A623"/>
                </a:solidFill>
              </a:rPr>
              <a:t>sanity_rules.py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956048" y="3977639"/>
            <a:ext cx="2057400" cy="1783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300"/>
              </a:spcBef>
            </a:pPr>
            <a:r>
              <a:rPr sz="1200">
                <a:solidFill>
                  <a:srgbClr val="CCCCCC"/>
                </a:solidFill>
              </a:rPr>
              <a:t>Physics heuristics + structural checks</a:t>
            </a:r>
          </a:p>
          <a:p>
            <a:pPr>
              <a:spcBef>
                <a:spcPts val="300"/>
              </a:spcBef>
            </a:pPr>
            <a:r>
              <a:rPr sz="1200">
                <a:solidFill>
                  <a:srgbClr val="CCCCCC"/>
                </a:solidFill>
              </a:rPr>
              <a:t>Catches unphysical parameter combos</a:t>
            </a:r>
          </a:p>
        </p:txBody>
      </p:sp>
      <p:sp>
        <p:nvSpPr>
          <p:cNvPr id="38" name="Rectangle 37"/>
          <p:cNvSpPr/>
          <p:nvPr/>
        </p:nvSpPr>
        <p:spPr>
          <a:xfrm>
            <a:off x="7168896" y="3429000"/>
            <a:ext cx="2240280" cy="242316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7168896" y="3429000"/>
            <a:ext cx="2240280" cy="64008"/>
          </a:xfrm>
          <a:prstGeom prst="rect">
            <a:avLst/>
          </a:prstGeom>
          <a:solidFill>
            <a:srgbClr val="AB47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7260336" y="3538728"/>
            <a:ext cx="2103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AB47BC"/>
                </a:solidFill>
              </a:rPr>
              <a:t>fluid_models.py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260336" y="3977639"/>
            <a:ext cx="2057400" cy="1783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300"/>
              </a:spcBef>
            </a:pPr>
            <a:r>
              <a:rPr sz="1200">
                <a:solidFill>
                  <a:srgbClr val="CCCCCC"/>
                </a:solidFill>
              </a:rPr>
              <a:t>NL keywords → solver + constitutive</a:t>
            </a:r>
          </a:p>
          <a:p>
            <a:pPr>
              <a:spcBef>
                <a:spcPts val="300"/>
              </a:spcBef>
            </a:pPr>
            <a:r>
              <a:rPr sz="1200">
                <a:solidFill>
                  <a:srgbClr val="CCCCCC"/>
                </a:solidFill>
              </a:rPr>
              <a:t>assembly for 6 fluid scenarios</a:t>
            </a:r>
          </a:p>
        </p:txBody>
      </p:sp>
      <p:sp>
        <p:nvSpPr>
          <p:cNvPr id="42" name="Rectangle 41"/>
          <p:cNvSpPr/>
          <p:nvPr/>
        </p:nvSpPr>
        <p:spPr>
          <a:xfrm>
            <a:off x="9473184" y="3429000"/>
            <a:ext cx="2240280" cy="242316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9473184" y="3429000"/>
            <a:ext cx="2240280" cy="64008"/>
          </a:xfrm>
          <a:prstGeom prst="rect">
            <a:avLst/>
          </a:prstGeom>
          <a:solidFill>
            <a:srgbClr val="EF53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9564624" y="3538728"/>
            <a:ext cx="2103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EF5350"/>
                </a:solidFill>
              </a:rPr>
              <a:t>lessons_learned.md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564624" y="3977639"/>
            <a:ext cx="2057400" cy="1783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300"/>
              </a:spcBef>
            </a:pPr>
            <a:r>
              <a:rPr sz="1200">
                <a:solidFill>
                  <a:srgbClr val="CCCCCC"/>
                </a:solidFill>
              </a:rPr>
              <a:t>Runtime error patterns and fixes</a:t>
            </a:r>
          </a:p>
          <a:p>
            <a:pPr>
              <a:spcBef>
                <a:spcPts val="300"/>
              </a:spcBef>
            </a:pPr>
            <a:r>
              <a:rPr sz="1200">
                <a:solidFill>
                  <a:srgbClr val="CCCCCC"/>
                </a:solidFill>
              </a:rPr>
              <a:t>Grows via /geos:curate-errors</a:t>
            </a:r>
          </a:p>
        </p:txBody>
      </p:sp>
      <p:sp>
        <p:nvSpPr>
          <p:cNvPr id="46" name="Rectangle 45"/>
          <p:cNvSpPr/>
          <p:nvPr/>
        </p:nvSpPr>
        <p:spPr>
          <a:xfrm>
            <a:off x="256032" y="5943600"/>
            <a:ext cx="11631168" cy="658368"/>
          </a:xfrm>
          <a:prstGeom prst="rect">
            <a:avLst/>
          </a:prstGeom>
          <a:solidFill>
            <a:srgbClr val="0D47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411480" y="5989320"/>
            <a:ext cx="113385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1">
                <a:solidFill>
                  <a:srgbClr val="0FBCD4"/>
                </a:solidFill>
              </a:rPr>
              <a:t>Key principle:  Tools never hardcode domain logic — they read from knowledge modules. New patterns discovered at runtime are added to the appropriate module, not to tools.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1704320" y="6492240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CCCCCC"/>
                </a:solidFill>
              </a:rPr>
              <a:t>4 / 4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